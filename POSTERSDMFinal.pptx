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747775"/>
          </p15:clr>
        </p15:guide>
        <p15:guide id="2" pos="953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nE+f84RlLSe+H/lyBrdNuGhpQ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724" y="12"/>
      </p:cViewPr>
      <p:guideLst>
        <p:guide orient="horz" pos="13482"/>
        <p:guide pos="95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627" y="685800"/>
            <a:ext cx="2425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5425" tIns="455425" rIns="455425" bIns="455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800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marR="0" lvl="0" indent="-800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Font typeface="Arial"/>
              <a:buChar char="●"/>
              <a:defRPr sz="9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○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■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●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○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■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●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○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■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idas-research/sismo-wsdm/tree/main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dl.acm.org/doi/10.1145/3308558.3313698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kaggle.com/datasets/nikhileswarkomati/suicide-watch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"/>
          <p:cNvGrpSpPr/>
          <p:nvPr/>
        </p:nvGrpSpPr>
        <p:grpSpPr>
          <a:xfrm>
            <a:off x="3810" y="100965"/>
            <a:ext cx="30276800" cy="4299585"/>
            <a:chOff x="0" y="-115"/>
            <a:chExt cx="51840" cy="6771"/>
          </a:xfrm>
        </p:grpSpPr>
        <p:sp>
          <p:nvSpPr>
            <p:cNvPr id="55" name="Google Shape;55;p1"/>
            <p:cNvSpPr txBox="1"/>
            <p:nvPr/>
          </p:nvSpPr>
          <p:spPr>
            <a:xfrm>
              <a:off x="0" y="-115"/>
              <a:ext cx="51840" cy="6771"/>
            </a:xfrm>
            <a:prstGeom prst="rect">
              <a:avLst/>
            </a:prstGeom>
            <a:solidFill>
              <a:srgbClr val="0C5AD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00"/>
                <a:buFont typeface="Arial"/>
                <a:buNone/>
              </a:pPr>
              <a:endParaRPr sz="8800" b="1" i="0" u="none" strike="noStrike" cap="small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 txBox="1"/>
            <p:nvPr/>
          </p:nvSpPr>
          <p:spPr>
            <a:xfrm>
              <a:off x="9116" y="4507"/>
              <a:ext cx="33608" cy="1890"/>
            </a:xfrm>
            <a:prstGeom prst="rect">
              <a:avLst/>
            </a:prstGeom>
            <a:solidFill>
              <a:srgbClr val="0C5AD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1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Choudari Harshitha Reddy (220010015)</a:t>
              </a:r>
              <a:br>
                <a:rPr lang="en-US" sz="3600" b="1" i="1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3600" b="1" i="1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Prakriti Tripati (220120014)</a:t>
              </a:r>
              <a:endParaRPr sz="36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 txBox="1"/>
            <p:nvPr/>
          </p:nvSpPr>
          <p:spPr>
            <a:xfrm>
              <a:off x="8151" y="530"/>
              <a:ext cx="42056" cy="2133"/>
            </a:xfrm>
            <a:prstGeom prst="rect">
              <a:avLst/>
            </a:prstGeom>
            <a:solidFill>
              <a:srgbClr val="0C5ADB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 Comparative Study of Classical Models, Feature Spaces, and Reduced-Dimension Techniques for Suicide Detection on Social Media with Geolocation</a:t>
              </a:r>
              <a:endPara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" name="Google Shape;58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432" y="23"/>
              <a:ext cx="6611" cy="66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1"/>
          <p:cNvGrpSpPr/>
          <p:nvPr/>
        </p:nvGrpSpPr>
        <p:grpSpPr>
          <a:xfrm>
            <a:off x="211455" y="4584065"/>
            <a:ext cx="9538335" cy="25800050"/>
            <a:chOff x="532" y="6870"/>
            <a:chExt cx="15834" cy="15857"/>
          </a:xfrm>
        </p:grpSpPr>
        <p:sp>
          <p:nvSpPr>
            <p:cNvPr id="60" name="Google Shape;60;p1"/>
            <p:cNvSpPr/>
            <p:nvPr/>
          </p:nvSpPr>
          <p:spPr>
            <a:xfrm>
              <a:off x="532" y="6870"/>
              <a:ext cx="15833" cy="950"/>
            </a:xfrm>
            <a:prstGeom prst="rect">
              <a:avLst/>
            </a:prstGeom>
            <a:solidFill>
              <a:srgbClr val="0C5AD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Introduction &amp; Motivation</a:t>
              </a:r>
              <a:endParaRPr/>
            </a:p>
          </p:txBody>
        </p:sp>
        <p:sp>
          <p:nvSpPr>
            <p:cNvPr id="61" name="Google Shape;61;p1"/>
            <p:cNvSpPr txBox="1"/>
            <p:nvPr/>
          </p:nvSpPr>
          <p:spPr>
            <a:xfrm>
              <a:off x="532" y="7895"/>
              <a:ext cx="15834" cy="148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Motivation</a:t>
              </a:r>
              <a:endParaRPr sz="4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Suicide rates are rising globally, and early detection through social media can enable timely intervention.</a:t>
              </a:r>
              <a:endParaRPr dirty="0"/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Text classification performance depends heavily on both the </a:t>
              </a:r>
              <a:r>
                <a:rPr lang="en-US" sz="28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</a:t>
              </a:r>
              <a:r>
                <a:rPr lang="en-US" sz="2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and the </a:t>
              </a:r>
              <a:r>
                <a:rPr lang="en-US" sz="28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feature space</a:t>
              </a:r>
              <a:r>
                <a:rPr lang="en-US" sz="2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dirty="0"/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Understanding which representations work best is crucial for building accurate crisis-detection systems.</a:t>
              </a:r>
              <a:endParaRPr dirty="0"/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Geolocation of posts adds real-world value by helping identify high-risk regions.</a:t>
              </a:r>
              <a:endParaRPr dirty="0"/>
            </a:p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This can be used by emergency response teams and healthcare officials to save lives.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Our goal is to answer:</a:t>
              </a:r>
              <a:endParaRPr sz="4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Which feature space yields the best performance for classical ML models?</a:t>
              </a:r>
              <a:endParaRPr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Does dimensionality reduction (PCA, t-SNE) preserve sufficient information for classification?</a:t>
              </a:r>
              <a:endParaRPr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do boosting models compare to classical linear baselines?</a:t>
              </a:r>
              <a:endParaRPr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Can an ensemble improve over the best single model?</a:t>
              </a:r>
              <a:endParaRPr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can we improve geolocation accuracy from text?</a:t>
              </a:r>
              <a:endParaRPr dirty="0"/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can we best detect suicidal ideation across different social media platforms?</a:t>
              </a:r>
              <a:endParaRPr dirty="0"/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Which measure of similarity is best for the Instagram dataset? </a:t>
              </a:r>
              <a:endParaRPr dirty="0"/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ourier New"/>
                <a:buChar char="o"/>
              </a:pP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Can we apply the various techniques learnt in class to </a:t>
              </a:r>
              <a:r>
                <a:rPr lang="en-US" sz="2800" b="0" i="1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analyse</a:t>
              </a:r>
              <a:r>
                <a:rPr lang="en-US" sz="2800" b="0" i="1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these datasets?</a:t>
              </a:r>
              <a:endParaRPr dirty="0"/>
            </a:p>
            <a:p>
              <a:pPr marL="457200" marR="0" lvl="0" indent="-2794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Dataset:</a:t>
              </a:r>
            </a:p>
            <a:p>
              <a:pPr marL="692150" marR="0" lvl="0" indent="-5143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+mj-lt"/>
                <a:buAutoNum type="arabicPeriod"/>
              </a:pPr>
              <a:r>
                <a:rPr lang="en-US" sz="3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Suicide Detection Dataset (Kaggle): </a:t>
              </a:r>
              <a:r>
                <a:rPr lang="en-US" sz="3200" i="1" u="sng" dirty="0">
                  <a:solidFill>
                    <a:srgbClr val="083C92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4"/>
                </a:rPr>
                <a:t>https://www.kaggle.com/datasets/nikhileswarkomati/suicide-watch</a:t>
              </a:r>
              <a:r>
                <a:rPr lang="en-US" sz="3200" i="1" u="sng" dirty="0">
                  <a:solidFill>
                    <a:srgbClr val="083C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  <a:p>
              <a:pPr marL="177800"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</a:pPr>
              <a:r>
                <a:rPr lang="en-US" sz="2800" dirty="0">
                  <a:sym typeface="Times New Roman"/>
                </a:rPr>
                <a:t>(Size: 13,742 posts)</a:t>
              </a:r>
            </a:p>
            <a:p>
              <a:pPr marL="692150" marR="0" lvl="0" indent="-5143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+mj-lt"/>
                <a:buAutoNum type="arabicPeriod"/>
              </a:pPr>
              <a:r>
                <a:rPr lang="en-US" sz="32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Reddit API (100 posts).</a:t>
              </a:r>
            </a:p>
            <a:p>
              <a:pPr marL="692150" marR="0" lvl="0" indent="-5143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+mj-lt"/>
                <a:buAutoNum type="arabicPeriod"/>
              </a:pPr>
              <a:r>
                <a:rPr lang="en-US" sz="32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Instagram posts.(6 posts, 134 users) .</a:t>
              </a:r>
            </a:p>
            <a:p>
              <a:pPr marL="692150" marR="0" lvl="0" indent="-5143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+mj-lt"/>
                <a:buAutoNum type="arabicPeriod"/>
              </a:pPr>
              <a:r>
                <a:rPr lang="en-US" sz="32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Also experimented with X API but found it unsuitable for this context, as most suicide-related posts were in the third person.)</a:t>
              </a:r>
            </a:p>
            <a:p>
              <a:pPr marL="692150" marR="0" lvl="0" indent="-5143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+mj-lt"/>
                <a:buAutoNum type="arabicPeriod"/>
              </a:pPr>
              <a:r>
                <a:rPr lang="en-US" sz="32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For the DGIM algorithm, we synthetically modelled the stream of risky likes. For the demo, we used a stream of 240 hours with a window size of 24 hours.</a:t>
              </a:r>
              <a:endParaRPr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4572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Scan the QR code to see the visualized geolocations in an interactive map for the Suicide Detection dataset:</a:t>
              </a:r>
              <a:endParaRPr dirty="0"/>
            </a:p>
          </p:txBody>
        </p:sp>
      </p:grpSp>
      <p:grpSp>
        <p:nvGrpSpPr>
          <p:cNvPr id="62" name="Google Shape;62;p1"/>
          <p:cNvGrpSpPr/>
          <p:nvPr/>
        </p:nvGrpSpPr>
        <p:grpSpPr>
          <a:xfrm>
            <a:off x="174091" y="30525720"/>
            <a:ext cx="9565105" cy="11821339"/>
            <a:chOff x="450" y="23430"/>
            <a:chExt cx="16640" cy="10363"/>
          </a:xfrm>
        </p:grpSpPr>
        <p:sp>
          <p:nvSpPr>
            <p:cNvPr id="63" name="Google Shape;63;p1"/>
            <p:cNvSpPr txBox="1"/>
            <p:nvPr/>
          </p:nvSpPr>
          <p:spPr>
            <a:xfrm>
              <a:off x="450" y="24867"/>
              <a:ext cx="16593" cy="892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515" y="23430"/>
              <a:ext cx="16575" cy="1215"/>
            </a:xfrm>
            <a:prstGeom prst="rect">
              <a:avLst/>
            </a:prstGeom>
            <a:solidFill>
              <a:srgbClr val="0C5AD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Objectives</a:t>
              </a:r>
              <a:endParaRPr/>
            </a:p>
          </p:txBody>
        </p:sp>
      </p:grpSp>
      <p:sp>
        <p:nvSpPr>
          <p:cNvPr id="65" name="Google Shape;65;p1"/>
          <p:cNvSpPr/>
          <p:nvPr/>
        </p:nvSpPr>
        <p:spPr>
          <a:xfrm>
            <a:off x="9954260" y="4540250"/>
            <a:ext cx="9927590" cy="1711960"/>
          </a:xfrm>
          <a:prstGeom prst="rect">
            <a:avLst/>
          </a:prstGeom>
          <a:solidFill>
            <a:srgbClr val="0C5AD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9954260" y="6351270"/>
            <a:ext cx="9927590" cy="2067496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Spaces tested: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TF–IDF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Bag of Words (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Chi²-selected TF–IDF (CHI2-1000)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SVD-300</a:t>
            </a:r>
            <a:endParaRPr dirty="0"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tested: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Neural Network 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Perceptron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en_core_web_sm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(Spacy),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all-MiniLM-L6-v2 (Sentence Transformer),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BloomFilter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user-user Collaborative Filtering, 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Reservoir Sampling, Sliding Window, and DGIM.</a:t>
            </a:r>
            <a:endParaRPr dirty="0"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Features: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PCA-2,50,100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T-SNE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Char char="o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Stratified sampling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Blending Ensemble: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Combined predictions from Logistic, NN. Text → Cleaning → Vectorization → Model → Prediction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20213955" y="6276491"/>
            <a:ext cx="9795510" cy="2072068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(Model vs Feature Space)</a:t>
            </a:r>
            <a:endParaRPr sz="110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overall model: Logistic Regression + TF-IDF</a:t>
            </a:r>
            <a:r>
              <a:rPr lang="en-US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Highest ROC-AUC, F1, and accuracy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oto Sans Symbols"/>
              <a:buChar char="▪"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is highly </a:t>
            </a:r>
            <a:r>
              <a:rPr lang="en-US" sz="25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linearly separable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TF-IDF space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oto Sans Symbols"/>
              <a:buChar char="▪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CHI2-1000 performs nearly as well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proving reduced vocabularies still retain strong signals.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oto Sans Symbols"/>
              <a:buChar char="▪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Boosting models (XGBoost, LightGBM)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well but </a:t>
            </a: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outperform linear baselines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oto Sans Symbols"/>
              <a:buChar char="▪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SVD-300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offers a good trade-off between low dimension and performance.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oto Sans Symbols"/>
              <a:buChar char="▪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reasonable but consistently weaker than TF-IDF and CHI2.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oto Sans Symbols"/>
              <a:buChar char="▪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kNN and Decision Tree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worst in all feature spaces → unsuitable for sparse text.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Results (Dimensionality Reduction &amp; Visualizations)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Dimensionality Reduction Effects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PCA-50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gives the </a:t>
            </a:r>
            <a:r>
              <a:rPr lang="en-US" sz="25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reduced-dimension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result but still significantly below TF-IDF and CHI2.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PCA-2, PCA-100 show performance drops due to information loss.</a:t>
            </a:r>
            <a:endParaRPr sz="1100"/>
          </a:p>
          <a:p>
            <a:pPr marL="285750" marR="0" lvl="0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t-SNE performs the worst for classification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confirming it is only suitable for visualization.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LR + Neural Network: Accuracy = 0.701, F1 = 0.740 ROC = 0.795 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recall but </a:t>
            </a: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outperform TF-IDF Logistic Regression alone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showing linear models already capture most decision boundaries.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DGIM </a:t>
            </a:r>
            <a:r>
              <a:rPr lang="en-U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event level is useful for modelling posts as data streams as can be seen in figure below: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20219670" y="4653915"/>
            <a:ext cx="9838690" cy="1475105"/>
          </a:xfrm>
          <a:prstGeom prst="rect">
            <a:avLst/>
          </a:prstGeom>
          <a:solidFill>
            <a:srgbClr val="0C5AD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/>
          </a:p>
        </p:txBody>
      </p:sp>
      <p:sp>
        <p:nvSpPr>
          <p:cNvPr id="69" name="Google Shape;69;p1"/>
          <p:cNvSpPr txBox="1"/>
          <p:nvPr/>
        </p:nvSpPr>
        <p:spPr>
          <a:xfrm>
            <a:off x="9954260" y="28316555"/>
            <a:ext cx="9927590" cy="139846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9954260" y="27131010"/>
            <a:ext cx="9994900" cy="1111885"/>
          </a:xfrm>
          <a:prstGeom prst="rect">
            <a:avLst/>
          </a:prstGeom>
          <a:solidFill>
            <a:srgbClr val="0C5AD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Experimental Setup</a:t>
            </a:r>
            <a:endParaRPr/>
          </a:p>
        </p:txBody>
      </p:sp>
      <p:sp>
        <p:nvSpPr>
          <p:cNvPr id="71" name="Google Shape;71;p1"/>
          <p:cNvSpPr txBox="1"/>
          <p:nvPr/>
        </p:nvSpPr>
        <p:spPr>
          <a:xfrm>
            <a:off x="10093325" y="34706946"/>
            <a:ext cx="9822815" cy="766787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Suicide Detection Dataset (Kaggle): </a:t>
            </a:r>
            <a:r>
              <a:rPr lang="en-US" sz="3200" b="0" i="1" u="sng" strike="noStrike" cap="none">
                <a:solidFill>
                  <a:srgbClr val="083C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https://www.kaggle.com/datasets/nikhileswarkomati/suicide-watch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SpaCy NER Documentation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API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LightGBM &amp; XGBoost libraries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Manning et al., "Foundations of Statistical NLP"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Reddit/Twitter/Instagram terms of use for academic research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Knowledge-aware Assessment of Severity of Suicide Risk for Early Intervention | The World Wide Web Conference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midas-research/sismo-wsdm: Code release for "Towards Ordinal Suicide Ideation Detection on Social Media", WSDM 2021.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093325" y="33302326"/>
            <a:ext cx="9822815" cy="1111885"/>
          </a:xfrm>
          <a:prstGeom prst="rect">
            <a:avLst/>
          </a:prstGeom>
          <a:solidFill>
            <a:srgbClr val="0C5AD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20220940" y="27281505"/>
            <a:ext cx="9859010" cy="1254125"/>
          </a:xfrm>
          <a:prstGeom prst="rect">
            <a:avLst/>
          </a:prstGeom>
          <a:solidFill>
            <a:srgbClr val="0C5AD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 &amp; Future Work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10046335" y="28535630"/>
            <a:ext cx="9869805" cy="447396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Hardware: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CPU runtime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Training: 80/20 split with SMOTE oversampling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Metrics: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 Score</a:t>
            </a:r>
            <a:endParaRPr dirty="0"/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ROC-AUC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0279995" y="28693496"/>
            <a:ext cx="9869805" cy="136076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 with Logistic Regression is the strongest combination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400" dirty="0">
                <a:sym typeface="Times New Roman"/>
              </a:rPr>
              <a:t>High-dimensional sparse features (&gt;30k dims) greatly outperform compressed or dense representations</a:t>
            </a:r>
            <a:r>
              <a:rPr lang="en-US" sz="2800" dirty="0">
                <a:sym typeface="Times New Roman"/>
              </a:rPr>
              <a:t>.</a:t>
            </a:r>
            <a:endParaRPr sz="28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PCA and t-SNE drastically hurt classifier performance.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Boosting models are strong but cannot beat linear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modelson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sparse text.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400" dirty="0">
                <a:sym typeface="Times New Roman"/>
              </a:rPr>
              <a:t>Ensemble blending adds stability but not peak performance.</a:t>
            </a:r>
            <a:endParaRPr sz="24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400" dirty="0">
                <a:sym typeface="Times New Roman"/>
              </a:rPr>
              <a:t>Geolocation + NER successfully identifies crisis clusters, allowing actionable insights.</a:t>
            </a:r>
            <a:b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3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dirty="0">
                <a:sym typeface="Times New Roman"/>
              </a:rPr>
              <a:t>Apply transformer-based models (</a:t>
            </a:r>
            <a:r>
              <a:rPr lang="en-US" sz="2400" dirty="0" err="1">
                <a:sym typeface="Times New Roman"/>
              </a:rPr>
              <a:t>RoBERTa</a:t>
            </a:r>
            <a:r>
              <a:rPr lang="en-US" sz="2400" dirty="0">
                <a:sym typeface="Times New Roman"/>
              </a:rPr>
              <a:t>, </a:t>
            </a:r>
            <a:r>
              <a:rPr lang="en-US" sz="2400" dirty="0" err="1">
                <a:sym typeface="Times New Roman"/>
              </a:rPr>
              <a:t>DistilBERT</a:t>
            </a:r>
            <a:r>
              <a:rPr lang="en-US" sz="2400" dirty="0">
                <a:sym typeface="Times New Roman"/>
              </a:rPr>
              <a:t>) for deeper semantic understanding.</a:t>
            </a:r>
            <a:endParaRPr sz="24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dirty="0">
                <a:sym typeface="Times New Roman"/>
              </a:rPr>
              <a:t>Improve geolocation with neural geoparsers or multilingual city dictionaries.</a:t>
            </a:r>
            <a:endParaRPr sz="24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dirty="0">
                <a:sym typeface="Times New Roman"/>
              </a:rPr>
              <a:t>Expand cross-platform analysis (TikTok, YouTube comments).</a:t>
            </a:r>
            <a:endParaRPr sz="24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dirty="0">
                <a:sym typeface="Times New Roman"/>
              </a:rPr>
              <a:t>Incorporate temporal modeling for suicidal ideation trend detection.</a:t>
            </a:r>
            <a:endParaRPr sz="24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dirty="0">
                <a:sym typeface="Times New Roman"/>
              </a:rPr>
              <a:t>Design real-time risk scoring using streaming algorithms (DGIM, sliding windows). </a:t>
            </a:r>
            <a:b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95641" y="17542008"/>
            <a:ext cx="8385759" cy="3285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6684" y="25019000"/>
            <a:ext cx="4971193" cy="497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167140" y="20889822"/>
            <a:ext cx="7242759" cy="618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0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17800" y="36859054"/>
            <a:ext cx="6541794" cy="5741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651541" y="19562831"/>
            <a:ext cx="8930907" cy="73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256117" y="31596774"/>
            <a:ext cx="9340865" cy="612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classical ML models across feature spaces (TF-IDF,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CHI2-1000, SVD-300).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the impact of dimensionality reduction (PCA, t-SNE) on classification.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performance of boosting models vs. linear baselines.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whether ensemble blending improves predictive quality.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geolocation and NER to map crisis hotspots.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suicidal content across Reddit, X, and Instagram.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user-user similarity metrics for Instagram data.</a:t>
            </a:r>
            <a:endParaRPr dirty="0"/>
          </a:p>
        </p:txBody>
      </p:sp>
      <p:sp>
        <p:nvSpPr>
          <p:cNvPr id="3" name="Google Shape;81;p1"/>
          <p:cNvSpPr txBox="1"/>
          <p:nvPr/>
        </p:nvSpPr>
        <p:spPr>
          <a:xfrm>
            <a:off x="686684" y="38219698"/>
            <a:ext cx="2208916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Pearson’s coefficient gives the best user-user similarity matrix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77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1592252" y="35827384"/>
            <a:ext cx="6728440" cy="61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Microsoft Office PowerPoint</Application>
  <PresentationFormat>Custom</PresentationFormat>
  <Paragraphs>111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Courier New</vt:lpstr>
      <vt:lpstr>Noto Sans Symbols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 harshitha</dc:creator>
  <cp:lastModifiedBy>Prakriti Tripathi</cp:lastModifiedBy>
  <cp:revision>1</cp:revision>
  <dcterms:created xsi:type="dcterms:W3CDTF">2025-11-04T18:28:14Z</dcterms:created>
  <dcterms:modified xsi:type="dcterms:W3CDTF">2025-11-16T10:08:41Z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384A4F775D0AC56B2A72DB688FB332D1_42</vt:lpwstr>
  </property>
  <property fmtid="{D5CDD505-2E9C-101B-9397-08002B2CF9AE}" pid="3" name="KSOProductBuildVer">
    <vt:lpwstr>1033-12.1.21937.21937</vt:lpwstr>
  </property>
</Properties>
</file>